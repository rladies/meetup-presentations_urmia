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9" r:id="rId1"/>
  </p:sldMasterIdLst>
  <p:notesMasterIdLst>
    <p:notesMasterId r:id="rId12"/>
  </p:notesMasterIdLst>
  <p:handoutMasterIdLst>
    <p:handoutMasterId r:id="rId13"/>
  </p:handoutMasterIdLst>
  <p:sldIdLst>
    <p:sldId id="260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7315200" cy="9601200"/>
  <p:defaultTextStyle>
    <a:defPPr>
      <a:defRPr lang="es-MX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800000"/>
    <a:srgbClr val="009999"/>
    <a:srgbClr val="00CC99"/>
    <a:srgbClr val="FF3300"/>
    <a:srgbClr val="CCFFFF"/>
    <a:srgbClr val="FFFFFF"/>
    <a:srgbClr val="FFFFCC"/>
    <a:srgbClr val="DFE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howGuides="1">
      <p:cViewPr varScale="1">
        <p:scale>
          <a:sx n="72" d="100"/>
          <a:sy n="72" d="100"/>
        </p:scale>
        <p:origin x="11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50" d="100"/>
          <a:sy n="50" d="100"/>
        </p:scale>
        <p:origin x="1962" y="4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322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162" cy="479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829" y="0"/>
            <a:ext cx="3170162" cy="479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0375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16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763" y="4558904"/>
            <a:ext cx="5851676" cy="4321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2416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891"/>
            <a:ext cx="3170162" cy="479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416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829" y="9119891"/>
            <a:ext cx="3170162" cy="479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6512936-C847-44ED-A75D-B3D433E9DDDE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264433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0725"/>
            <a:ext cx="6397625" cy="3598863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49148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s-ES" altLang="es-PE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PE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925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 algn="ctr">
              <a:defRPr lang="es-ES" sz="4800" b="1" noProof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s-ES" noProof="0" dirty="0"/>
              <a:t>Haga clic para cambiar el estilo de título	</a:t>
            </a:r>
          </a:p>
        </p:txBody>
      </p:sp>
      <p:sp>
        <p:nvSpPr>
          <p:cNvPr id="1925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B2953A0-3D19-4215-B7D0-D2CF7F5A07B6}" type="slidenum">
              <a:rPr lang="es-ES" altLang="es-PE"/>
              <a:pPr/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61502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3DACB0-1E73-45A1-9575-1BFD11FC784F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73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1DC959-7F1B-45BF-B4BE-15A84E24E69D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944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B2858-E520-4F69-9DF4-B7F54C6D1B03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38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17C955-4845-4DDD-AB87-01DE3AB2E801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68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28283-04F5-413D-8BEF-03BE8F78E7B5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3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49FEF4-7F88-414F-ACEF-43686857EC8C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910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3E93-3FE3-4C51-B960-F93B102222B5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267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PE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711F77-E25C-4184-9E86-D02470E9C101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76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CA724C-0892-4936-BD62-D46A97E55C19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61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384458-3F28-4D04-A1AF-1B49703EEFA5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686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AE8BF-83EE-47A9-8FBF-5472CE9DCBC3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91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es-PE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763D61-3119-47DD-AFA3-775B46299920}" type="slidenum">
              <a:rPr lang="es-ES" altLang="es-PE"/>
              <a:pPr/>
              <a:t>‹Nº›</a:t>
            </a:fld>
            <a:endParaRPr lang="es-ES" altLang="es-PE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796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1D841AEB-440B-4F52-84DF-2F847F6FA76A}" type="slidenum">
              <a:rPr lang="es-ES" altLang="es-PE"/>
              <a:pPr/>
              <a:t>‹Nº›</a:t>
            </a:fld>
            <a:endParaRPr lang="es-ES" altLang="es-PE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s-ES" altLang="es-PE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PE">
                <a:solidFill>
                  <a:schemeClr val="accent2"/>
                </a:solidFill>
              </a:endParaRPr>
            </a:p>
          </p:txBody>
        </p:sp>
      </p:grpSp>
      <p:sp>
        <p:nvSpPr>
          <p:cNvPr id="191502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 dirty="0"/>
              <a:t>Haga clic para modificar el estilo de texto del patrón</a:t>
            </a:r>
          </a:p>
          <a:p>
            <a:pPr lvl="1"/>
            <a:r>
              <a:rPr lang="es-ES" altLang="es-PE" dirty="0"/>
              <a:t>Segundo nivel</a:t>
            </a:r>
          </a:p>
          <a:p>
            <a:pPr lvl="2"/>
            <a:r>
              <a:rPr lang="es-ES" altLang="es-PE" dirty="0"/>
              <a:t>Tercer nivel</a:t>
            </a:r>
          </a:p>
          <a:p>
            <a:pPr lvl="3"/>
            <a:r>
              <a:rPr lang="es-ES" altLang="es-PE" dirty="0"/>
              <a:t>Cuarto nivel</a:t>
            </a:r>
          </a:p>
          <a:p>
            <a:pPr lvl="4"/>
            <a:r>
              <a:rPr lang="es-ES" altLang="es-PE" dirty="0"/>
              <a:t>Quinto nivel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Yu Gothic UI" panose="020B0500000000000000" pitchFamily="34" charset="-128"/>
          <a:ea typeface="Yu Gothic UI" panose="020B0500000000000000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948648" y="1974864"/>
            <a:ext cx="8026400" cy="2209800"/>
          </a:xfrm>
        </p:spPr>
        <p:txBody>
          <a:bodyPr/>
          <a:lstStyle/>
          <a:p>
            <a:r>
              <a:rPr lang="en-US" dirty="0">
                <a:effectLst/>
              </a:rPr>
              <a:t>From Concept to CRAN: The Complete R Package Development Cycle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6628B11-DC13-44F7-AD1C-A0701E312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320" y="5803923"/>
            <a:ext cx="5748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s-E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Renzo </a:t>
            </a:r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Caceres</a:t>
            </a:r>
            <a:r>
              <a:rPr lang="es-E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 Rossi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1A317A86-4284-4983-89D8-2F3B2A7F3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748" y="6264276"/>
            <a:ext cx="57487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s-E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arenzocaceresrossi@gmail.com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EC9DE4-D00E-4BE6-A083-CB34919A4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7D4F2C-BB25-457A-A12D-07CD70C4D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30" y="4285891"/>
            <a:ext cx="2657846" cy="2572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120A0-BEE8-424A-B096-C85B9145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</a:t>
            </a:r>
            <a:r>
              <a:rPr lang="es-ES" dirty="0" err="1"/>
              <a:t>Where’s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Package</a:t>
            </a:r>
            <a:r>
              <a:rPr lang="es-ES" dirty="0"/>
              <a:t>?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BD271C-16F0-4508-BF6B-0F907AE2BC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2</a:t>
            </a:fld>
            <a:endParaRPr lang="es-ES" alt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E6E1B4-7F69-9FFB-506F-7668FBF3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2285659"/>
            <a:ext cx="3024336" cy="282795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4A28A0A-2A81-26A7-6FB8-9ABB886808AD}"/>
              </a:ext>
            </a:extLst>
          </p:cNvPr>
          <p:cNvSpPr txBox="1"/>
          <p:nvPr/>
        </p:nvSpPr>
        <p:spPr>
          <a:xfrm>
            <a:off x="5087888" y="2145364"/>
            <a:ext cx="52703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¿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is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the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Package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?</a:t>
            </a:r>
          </a:p>
          <a:p>
            <a:endParaRPr lang="es-ES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¿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is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the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Library?</a:t>
            </a:r>
          </a:p>
          <a:p>
            <a:endParaRPr lang="es-ES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¿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is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your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Package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?</a:t>
            </a:r>
          </a:p>
          <a:p>
            <a:endParaRPr lang="es-ES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¿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Where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is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your</a:t>
            </a:r>
            <a:r>
              <a:rPr lang="es-E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Library?</a:t>
            </a:r>
            <a:endParaRPr lang="es-PE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247212-AC94-4C90-9871-45EC701AF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2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E5D46-EEBA-C179-7161-D687A6A08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54CFA-25E3-95A8-4F10-FF444A6C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>
                <a:effectLst/>
              </a:rPr>
              <a:t>Why</a:t>
            </a:r>
            <a:r>
              <a:rPr lang="es-PE" dirty="0">
                <a:effectLst/>
              </a:rPr>
              <a:t> </a:t>
            </a:r>
            <a:r>
              <a:rPr lang="es-PE" dirty="0" err="1">
                <a:effectLst/>
              </a:rPr>
              <a:t>develop</a:t>
            </a:r>
            <a:r>
              <a:rPr lang="es-PE" dirty="0">
                <a:effectLst/>
              </a:rPr>
              <a:t> a </a:t>
            </a:r>
            <a:r>
              <a:rPr lang="es-PE" dirty="0" err="1">
                <a:effectLst/>
              </a:rPr>
              <a:t>package</a:t>
            </a:r>
            <a:r>
              <a:rPr lang="es-PE" dirty="0">
                <a:effectLst/>
              </a:rPr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EFAB22-0F86-C608-5DF7-57A8DDC010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3</a:t>
            </a:fld>
            <a:endParaRPr lang="es-ES" alt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4CB31B-FA9B-9D97-5828-27172FB1D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2276872"/>
            <a:ext cx="2808312" cy="32525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B83BF90-7BB5-D21B-CD2B-0B070DE7E943}"/>
              </a:ext>
            </a:extLst>
          </p:cNvPr>
          <p:cNvSpPr txBox="1"/>
          <p:nvPr/>
        </p:nvSpPr>
        <p:spPr>
          <a:xfrm>
            <a:off x="5735960" y="1828800"/>
            <a:ext cx="45365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Differentiation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Skills</a:t>
            </a: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test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Technical</a:t>
            </a: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portfolio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Academic</a:t>
            </a: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citations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De facto standard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Thesis</a:t>
            </a: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, </a:t>
            </a: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paper</a:t>
            </a:r>
            <a: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, </a:t>
            </a:r>
            <a:r>
              <a:rPr lang="es-PE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article</a:t>
            </a: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B1830E3-418D-4239-A4F7-56DA0A56C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7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D61CE-C5B2-0925-83B0-0C7EC0BF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310E4-F9EC-BC05-B083-B5E27446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7444"/>
            <a:ext cx="10972800" cy="1371600"/>
          </a:xfrm>
        </p:spPr>
        <p:txBody>
          <a:bodyPr/>
          <a:lstStyle/>
          <a:p>
            <a:r>
              <a:rPr lang="en-US" dirty="0"/>
              <a:t>What exactly is an R package?</a:t>
            </a:r>
            <a:endParaRPr lang="en-US" dirty="0">
              <a:effectLst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478A87-B220-C42E-2397-C23D01C1E1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4</a:t>
            </a:fld>
            <a:endParaRPr lang="es-ES" altLang="es-P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08618B-BA06-C039-C29F-B06331751BD1}"/>
              </a:ext>
            </a:extLst>
          </p:cNvPr>
          <p:cNvSpPr txBox="1"/>
          <p:nvPr/>
        </p:nvSpPr>
        <p:spPr>
          <a:xfrm>
            <a:off x="5149519" y="2047421"/>
            <a:ext cx="643288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Collection of functions, data, and documentation packaged for a specific task</a:t>
            </a:r>
            <a:br>
              <a:rPr lang="es-PE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</a:b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 R's capabilities for specific areas</a:t>
            </a:r>
            <a:br>
              <a:rPr lang="es-PE" sz="2000" b="1" dirty="0"/>
            </a:br>
            <a:endParaRPr lang="es-PE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Download and installation from CRAN or GitHub</a:t>
            </a:r>
            <a:br>
              <a:rPr lang="es-PE" sz="2000" b="1" dirty="0"/>
            </a:br>
            <a:endParaRPr lang="es-PE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Approximately 20,000 to 21,000 packages published as of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It’s the heart of R, Python, and Julia as well.</a:t>
            </a:r>
            <a:br>
              <a:rPr lang="es-PE" sz="2000" b="1" dirty="0"/>
            </a:br>
            <a:endParaRPr lang="es-PE" sz="2000" b="1" dirty="0"/>
          </a:p>
          <a:p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45C302-B55B-BEA4-29F6-C43EF1213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2064647"/>
            <a:ext cx="3312368" cy="30381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C1333C-AC33-4518-98A1-DC1BC16F5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4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709D9-5588-F7FA-E9FA-CF3E7A35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09D6A-FEE9-3EF9-95E6-170D272A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Types of packages in 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4CA953-D3E4-7A83-851E-F67E9BEBB6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5</a:t>
            </a:fld>
            <a:endParaRPr lang="es-ES" alt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FF4512-B68B-95B6-84D7-1243BEA4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260" y="2750281"/>
            <a:ext cx="1872208" cy="17506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8F6B34F-B084-04CE-F20C-889BF8EDF5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066" y="2520842"/>
            <a:ext cx="1872208" cy="21647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F2EFA10-1073-C97A-E4C7-9CE73EE7C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2519740"/>
            <a:ext cx="4278551" cy="209689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6E7F7B5-65E9-55F8-9AE6-D0B8419A7A34}"/>
              </a:ext>
            </a:extLst>
          </p:cNvPr>
          <p:cNvSpPr txBox="1"/>
          <p:nvPr/>
        </p:nvSpPr>
        <p:spPr>
          <a:xfrm>
            <a:off x="4722791" y="4690458"/>
            <a:ext cx="263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Datavisualization</a:t>
            </a:r>
            <a:r>
              <a:rPr lang="es-ES" sz="2400" dirty="0"/>
              <a:t> </a:t>
            </a:r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Package</a:t>
            </a: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BC40074-0FF6-B5D6-F976-293C17804B7C}"/>
              </a:ext>
            </a:extLst>
          </p:cNvPr>
          <p:cNvSpPr txBox="1"/>
          <p:nvPr/>
        </p:nvSpPr>
        <p:spPr>
          <a:xfrm>
            <a:off x="1970580" y="4616632"/>
            <a:ext cx="22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Datasets</a:t>
            </a:r>
            <a:r>
              <a:rPr lang="es-ES" sz="2400" dirty="0"/>
              <a:t> </a:t>
            </a:r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Package</a:t>
            </a: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768DD5-1C81-D334-45F4-C39018FC09FA}"/>
              </a:ext>
            </a:extLst>
          </p:cNvPr>
          <p:cNvSpPr txBox="1"/>
          <p:nvPr/>
        </p:nvSpPr>
        <p:spPr>
          <a:xfrm>
            <a:off x="7967398" y="4655431"/>
            <a:ext cx="263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Metapackage</a:t>
            </a:r>
            <a:endParaRPr lang="es-PE" sz="24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59C525B-C3AD-4AFA-A5B8-F6C9EABC4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4E60-DC08-9A00-4F03-F38D589E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25F00-6A6C-FB91-18C0-0A4E645C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effectLst/>
              </a:rPr>
              <a:t>R </a:t>
            </a:r>
            <a:r>
              <a:rPr lang="es-PE" dirty="0" err="1">
                <a:effectLst/>
              </a:rPr>
              <a:t>Packages</a:t>
            </a:r>
            <a:r>
              <a:rPr lang="es-PE" dirty="0">
                <a:effectLst/>
              </a:rPr>
              <a:t> </a:t>
            </a:r>
            <a:r>
              <a:rPr lang="es-PE" dirty="0" err="1">
                <a:effectLst/>
              </a:rPr>
              <a:t>Ecosystem</a:t>
            </a:r>
            <a:endParaRPr lang="es-PE" dirty="0">
              <a:effectLst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2405DD-CC45-A516-9DE3-30054BA2D7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6</a:t>
            </a:fld>
            <a:endParaRPr lang="es-ES" alt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C656787-CC29-F7E8-FC91-385DB0EC4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89" y="1828800"/>
            <a:ext cx="8352928" cy="40767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D39A03-BBFB-42CC-B255-8EA86EE3E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6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78939-A29C-B409-9387-8C2846A84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45D9D-5304-D71D-396F-475E95C9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One-Hit Wonder </a:t>
            </a:r>
            <a:br>
              <a:rPr lang="en-US" dirty="0"/>
            </a:br>
            <a:r>
              <a:rPr lang="en-US" dirty="0"/>
              <a:t>                            </a:t>
            </a:r>
            <a:r>
              <a:rPr lang="es-PE" dirty="0" err="1"/>
              <a:t>Build</a:t>
            </a:r>
            <a:r>
              <a:rPr lang="es-PE" dirty="0"/>
              <a:t> </a:t>
            </a:r>
            <a:r>
              <a:rPr lang="es-PE" dirty="0" err="1"/>
              <a:t>Many</a:t>
            </a:r>
            <a:r>
              <a:rPr lang="es-PE" dirty="0"/>
              <a:t> R </a:t>
            </a:r>
            <a:r>
              <a:rPr lang="es-PE" dirty="0" err="1"/>
              <a:t>Package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849BC1-8FB7-755F-C291-B80342B852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7</a:t>
            </a:fld>
            <a:endParaRPr lang="es-ES" alt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EF59BF-E42C-F2E4-A5D7-70C46D94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828800"/>
            <a:ext cx="9361040" cy="46114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8DF297-371A-4910-9982-FF3F8718B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6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7BAC-0759-7F7B-8278-44DD0DC4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2CFCE-F8DA-90B4-43FF-054ACAF1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</a:rPr>
              <a:t>Your Packages, Your Own Ecosystem in 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81C6CA-4839-902B-0503-07969B7C4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8</a:t>
            </a:fld>
            <a:endParaRPr lang="es-ES" alt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4CD74F-1E85-4BDB-A4F8-EA0C787DA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2357C10-1D74-4A98-B2DC-4A5B4C99B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1946"/>
            <a:ext cx="10972800" cy="48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3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DD40-F911-58D7-9B38-0B80CE6E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6B71C-3E6A-4E04-FE0A-1A445978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Your Metapackage, Your Universe in 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2550CC-82D5-2EF9-D8BA-4A145272E3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9</a:t>
            </a:fld>
            <a:endParaRPr lang="es-ES" alt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A7D2FF-8B68-05B8-A50B-D87DD9794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843" y="1443964"/>
            <a:ext cx="5676313" cy="52616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A99CC0D-493A-405B-BFA3-F3359750A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3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256C-B546-205B-BC4D-9931B80E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27ED6-B6B4-9C46-C789-44DD4BBA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 </a:t>
            </a:r>
            <a:r>
              <a:rPr lang="es-PE" dirty="0" err="1"/>
              <a:t>Package</a:t>
            </a:r>
            <a:r>
              <a:rPr lang="es-PE" dirty="0"/>
              <a:t> </a:t>
            </a:r>
            <a:r>
              <a:rPr lang="es-PE" dirty="0" err="1"/>
              <a:t>Development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E39BA9-F995-2500-DD91-4C8A1F489D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3DACB0-1E73-45A1-9575-1BFD11FC784F}" type="slidenum">
              <a:rPr lang="es-ES" altLang="es-PE" smtClean="0"/>
              <a:pPr/>
              <a:t>10</a:t>
            </a:fld>
            <a:endParaRPr lang="es-ES" alt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A7B2B3-A03B-B89D-34B2-74029768F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2104698"/>
            <a:ext cx="6905868" cy="26486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A48216C-5989-DA8E-B7F8-B8FBE8FA998E}"/>
              </a:ext>
            </a:extLst>
          </p:cNvPr>
          <p:cNvSpPr txBox="1"/>
          <p:nvPr/>
        </p:nvSpPr>
        <p:spPr>
          <a:xfrm>
            <a:off x="5591944" y="4869160"/>
            <a:ext cx="63608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Time to build our very first R package!</a:t>
            </a:r>
            <a:endParaRPr lang="es-PE" sz="3600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5DE295-079F-4AF5-9282-4E8D4A7D9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989" y="-18797"/>
            <a:ext cx="2121011" cy="164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Píxel">
  <a:themeElements>
    <a:clrScheme name="Pí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íxel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í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í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í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18268</TotalTime>
  <Words>192</Words>
  <Application>Microsoft Office PowerPoint</Application>
  <PresentationFormat>Panorámica</PresentationFormat>
  <Paragraphs>44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Yu Gothic UI</vt:lpstr>
      <vt:lpstr>Arial</vt:lpstr>
      <vt:lpstr>Arial Black</vt:lpstr>
      <vt:lpstr>Times New Roman</vt:lpstr>
      <vt:lpstr>Trebuchet MS</vt:lpstr>
      <vt:lpstr>Wingdings</vt:lpstr>
      <vt:lpstr>Píxel</vt:lpstr>
      <vt:lpstr>From Concept to CRAN: The Complete R Package Development Cycle</vt:lpstr>
      <vt:lpstr>¿Where’s the Package?</vt:lpstr>
      <vt:lpstr>Why develop a package?</vt:lpstr>
      <vt:lpstr>What exactly is an R package?</vt:lpstr>
      <vt:lpstr>Types of packages in R</vt:lpstr>
      <vt:lpstr>R Packages Ecosystem</vt:lpstr>
      <vt:lpstr>Not a One-Hit Wonder                              Build Many R Package</vt:lpstr>
      <vt:lpstr>Your Packages, Your Own Ecosystem in R</vt:lpstr>
      <vt:lpstr>Your Metapackage, Your Universe in R</vt:lpstr>
      <vt:lpstr>R Package Development</vt:lpstr>
    </vt:vector>
  </TitlesOfParts>
  <Company>Fundacion para el Desarrollo Agarrio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Salinas</dc:creator>
  <cp:lastModifiedBy>Renzo</cp:lastModifiedBy>
  <cp:revision>540</cp:revision>
  <dcterms:created xsi:type="dcterms:W3CDTF">2006-04-11T15:51:42Z</dcterms:created>
  <dcterms:modified xsi:type="dcterms:W3CDTF">2025-08-18T00:32:03Z</dcterms:modified>
</cp:coreProperties>
</file>